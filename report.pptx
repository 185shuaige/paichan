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9" r:id="rId5"/>
    <p:sldId id="257" r:id="rId6"/>
    <p:sldId id="263" r:id="rId7"/>
    <p:sldId id="258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6E2E2-B3A5-AC08-F181-337BECE2C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BBDCC4-93B1-766A-8FF8-C478D0897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3A9648-484C-6BBE-26C5-AF28FD2E2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22C3-7FDB-4DAD-BFA3-3E145AC5E0C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7B5604-F358-B0D2-5A93-51ABD7A5A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055F50-562A-F60F-ED32-1C393CFE6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F003C-5A6C-494A-BF09-C9B5E51CB4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943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3675C6-FAAB-BEFA-221D-5D871BBBD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71D586-167B-4E18-944E-02B194BE1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D2615A-7CF1-B8E3-CF25-53B35948F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22C3-7FDB-4DAD-BFA3-3E145AC5E0C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212735-BCC2-2B5F-79CF-C9D4BC3A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C793DF-3C27-920B-6F09-E3C70614E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F003C-5A6C-494A-BF09-C9B5E51CB4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576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96280-EEEE-F9B3-2647-4D77B882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49D1EF-DFA4-02DF-9168-5BF49A4D1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04F16F-C4B6-2F35-5F13-6513C62A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22C3-7FDB-4DAD-BFA3-3E145AC5E0C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78ED78-EFB4-45AF-A8BB-080A1D7F6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B26B05-B174-FC37-DD65-F26C88DEB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F003C-5A6C-494A-BF09-C9B5E51CB4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27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D3C29-5038-4B4E-9054-254AEA93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EBA996-69C1-1A61-B7B2-66EC34563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D01289-AE79-F07C-9FB2-58969A858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313F1C-38E6-8CC2-044F-0186B5215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22C3-7FDB-4DAD-BFA3-3E145AC5E0C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210C92-2C44-F39D-C4DF-3564452BD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891417-3125-8F63-943B-AEBA6FF2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F003C-5A6C-494A-BF09-C9B5E51CB4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847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DAC806-225D-DDDF-57AC-E9DBB9C46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FCAF10-E7BD-089B-D305-4C5C5ECE7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BF9583-ECB3-F186-053F-DB22E89E7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59251E7-ED18-6829-31A2-3918BDC4BC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74F168-CB7B-8811-46D6-E99C407E3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A1517B-68EE-EC78-159A-BAD07B5E1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22C3-7FDB-4DAD-BFA3-3E145AC5E0C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5B2936F-DBD9-0ADA-9516-7E036EE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FB2C7C-CF68-2319-B606-7E8D1A337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F003C-5A6C-494A-BF09-C9B5E51CB4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89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E3E22-C648-FB2F-EC8F-D1AD0B5AB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FD0BC2-E8B8-53D3-6A4F-2CA32499D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22C3-7FDB-4DAD-BFA3-3E145AC5E0C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1BBBA4-7365-4EC8-CBA8-6EC6CB4F4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6BFB2B-F32E-1AD4-7CDC-0C0B25BE1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F003C-5A6C-494A-BF09-C9B5E51CB4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866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D3A867-B50A-26B1-3BB6-EDB59B237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22C3-7FDB-4DAD-BFA3-3E145AC5E0C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0791014-CA99-883C-0901-B7583F2F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FD7280-D427-F895-C066-E8037DACD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F003C-5A6C-494A-BF09-C9B5E51CB4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466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995991-A059-9920-34B2-82D7D1713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AA51AA-844D-12EB-2396-BA07E6493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744DCF-1C42-6C6D-C01D-CE5998EE7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C8547D-DEE2-9DE0-D462-D7F9500AB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22C3-7FDB-4DAD-BFA3-3E145AC5E0C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9223A3-855E-65DC-CA5D-E31651BA0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BA7226-DDE2-0780-21FC-CE1FE0097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F003C-5A6C-494A-BF09-C9B5E51CB4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22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1E54D1-6A42-B000-F76D-25F7356B9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994653-B452-801D-224D-33339281A8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A49E0A-1482-7F29-E89E-6A45C957F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F8CA61-CD4F-BC0D-6848-EB97FA287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22C3-7FDB-4DAD-BFA3-3E145AC5E0C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966402-E204-E258-9EDC-F86038D2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E77126-F18E-97C7-8C89-59C095611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F003C-5A6C-494A-BF09-C9B5E51CB4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55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F77154-9B95-1871-9408-B5CA5E59B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C23EB5-F919-ACE7-DAFC-F7777BBF5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E8E0D0-D215-0140-BD07-ACA57BA20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22C3-7FDB-4DAD-BFA3-3E145AC5E0C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A9431F-C707-249A-E4AF-057EAC7E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10D7C0-B3E1-0A54-9945-DA2EBD03E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F003C-5A6C-494A-BF09-C9B5E51CB4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054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9F0EED0-42D0-4591-CBE7-68740109BB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8D9AFC-441D-989D-FF98-94BB950CE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B66082-524E-C4C4-A56B-60D90EC3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22C3-7FDB-4DAD-BFA3-3E145AC5E0C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21C79D-D89A-8369-9EAD-5A2C76269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669C2D-0E37-09E7-B369-0ACC059A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F003C-5A6C-494A-BF09-C9B5E51CB4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67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22EA83-C6CA-D81E-2487-E37EF0E7D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197EC-293F-3490-F36B-8C359067D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F39718-0FE5-9B91-D7ED-00AF0B0094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F22C3-7FDB-4DAD-BFA3-3E145AC5E0C9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437D0C-A758-2134-921F-8A3D4C849D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E697D4-9BDC-4207-A2A7-96346E43D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F003C-5A6C-494A-BF09-C9B5E51CB4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067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A552AF2-769A-0926-F187-F0D0E0A5879B}"/>
              </a:ext>
            </a:extLst>
          </p:cNvPr>
          <p:cNvSpPr txBox="1"/>
          <p:nvPr/>
        </p:nvSpPr>
        <p:spPr>
          <a:xfrm>
            <a:off x="1436038" y="576870"/>
            <a:ext cx="86530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/>
              <a:t>整体思路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67BCC0-9319-7661-FD04-EE542991732F}"/>
              </a:ext>
            </a:extLst>
          </p:cNvPr>
          <p:cNvSpPr txBox="1"/>
          <p:nvPr/>
        </p:nvSpPr>
        <p:spPr>
          <a:xfrm>
            <a:off x="1528093" y="1589460"/>
            <a:ext cx="7358158" cy="3904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1.</a:t>
            </a:r>
            <a:r>
              <a:rPr lang="zh-CN" altLang="en-US" sz="2800" dirty="0"/>
              <a:t>分析问题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2.</a:t>
            </a:r>
            <a:r>
              <a:rPr lang="zh-CN" altLang="en-US" sz="2800" dirty="0"/>
              <a:t>算法设置（编码）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3.</a:t>
            </a:r>
            <a:r>
              <a:rPr lang="zh-CN" altLang="en-US" sz="2800" dirty="0"/>
              <a:t>设置数据结构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4.</a:t>
            </a:r>
            <a:r>
              <a:rPr lang="zh-CN" altLang="en-US" sz="2800" dirty="0"/>
              <a:t>读入数据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5.</a:t>
            </a:r>
            <a:r>
              <a:rPr lang="zh-CN" altLang="en-US" sz="2800" dirty="0"/>
              <a:t>算法优化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6.</a:t>
            </a:r>
            <a:r>
              <a:rPr lang="zh-CN" altLang="en-US" sz="2800" dirty="0"/>
              <a:t>输出计划（解码）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809036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315475-2218-7AEB-E2D6-9BA049D53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600" dirty="0"/>
              <a:t>问题类型的分类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FA9E6E-9DE9-799D-4C21-EB7A48F33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规划规划问题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72C399-2940-1C3B-B02C-D01C085C2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416729"/>
          </a:xfrm>
        </p:spPr>
        <p:txBody>
          <a:bodyPr/>
          <a:lstStyle/>
          <a:p>
            <a:r>
              <a:rPr lang="zh-CN" altLang="en-US" dirty="0"/>
              <a:t>目标规划</a:t>
            </a:r>
            <a:endParaRPr lang="en-US" altLang="zh-CN" dirty="0"/>
          </a:p>
          <a:p>
            <a:r>
              <a:rPr lang="zh-CN" altLang="en-US" dirty="0"/>
              <a:t>线性规划</a:t>
            </a:r>
            <a:endParaRPr lang="en-US" altLang="zh-CN" dirty="0"/>
          </a:p>
          <a:p>
            <a:r>
              <a:rPr lang="zh-CN" altLang="en-US" dirty="0"/>
              <a:t>整数规划</a:t>
            </a:r>
            <a:endParaRPr lang="en-US" altLang="zh-CN" dirty="0"/>
          </a:p>
          <a:p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9BC2DC-4D07-B553-A5EB-A18BC8821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优化问题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67E1CB-5103-59C7-D54F-3A1C494ED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1888955"/>
          </a:xfrm>
        </p:spPr>
        <p:txBody>
          <a:bodyPr/>
          <a:lstStyle/>
          <a:p>
            <a:r>
              <a:rPr lang="zh-CN" altLang="en-US" dirty="0"/>
              <a:t>启发式算法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081F0E-019D-BC2F-5832-265F6618B434}"/>
              </a:ext>
            </a:extLst>
          </p:cNvPr>
          <p:cNvSpPr txBox="1"/>
          <p:nvPr/>
        </p:nvSpPr>
        <p:spPr>
          <a:xfrm>
            <a:off x="644376" y="4823613"/>
            <a:ext cx="10942115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1.</a:t>
            </a:r>
            <a:r>
              <a:rPr lang="zh-CN" altLang="en-US" dirty="0"/>
              <a:t>因为信息不足，只能选择优化的目标是生产周期，即单目标规划。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 除了每个道次内部指定的刚性约束条件，其他均是一些软性约束条件，所以选用启发式算法从解空间中寻找可行性方案。</a:t>
            </a:r>
          </a:p>
        </p:txBody>
      </p:sp>
    </p:spTree>
    <p:extLst>
      <p:ext uri="{BB962C8B-B14F-4D97-AF65-F5344CB8AC3E}">
        <p14:creationId xmlns:p14="http://schemas.microsoft.com/office/powerpoint/2010/main" val="1822022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75EF557-DAC2-7780-1C8F-C36DD139C846}"/>
              </a:ext>
            </a:extLst>
          </p:cNvPr>
          <p:cNvSpPr txBox="1"/>
          <p:nvPr/>
        </p:nvSpPr>
        <p:spPr>
          <a:xfrm>
            <a:off x="562550" y="414706"/>
            <a:ext cx="494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遗传算法设计思路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97D4A09-45D7-64E7-B620-F03B38FFCC3B}"/>
              </a:ext>
            </a:extLst>
          </p:cNvPr>
          <p:cNvCxnSpPr/>
          <p:nvPr/>
        </p:nvCxnSpPr>
        <p:spPr>
          <a:xfrm>
            <a:off x="421401" y="900080"/>
            <a:ext cx="117092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EC870AD6-97BD-4ED4-AF62-0D10DCEB9A89}"/>
              </a:ext>
            </a:extLst>
          </p:cNvPr>
          <p:cNvSpPr txBox="1"/>
          <p:nvPr/>
        </p:nvSpPr>
        <p:spPr>
          <a:xfrm>
            <a:off x="472542" y="1152901"/>
            <a:ext cx="3338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编码</a:t>
            </a:r>
            <a:r>
              <a:rPr lang="en-US" altLang="zh-CN" sz="2800" b="1" dirty="0"/>
              <a:t>Encoding</a:t>
            </a:r>
            <a:endParaRPr lang="zh-CN" altLang="en-US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AE9A5A-215F-9BE6-8B04-7BBE3D8E7DAC}"/>
              </a:ext>
            </a:extLst>
          </p:cNvPr>
          <p:cNvSpPr txBox="1"/>
          <p:nvPr/>
        </p:nvSpPr>
        <p:spPr>
          <a:xfrm>
            <a:off x="638239" y="1730609"/>
            <a:ext cx="10518668" cy="3277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1.</a:t>
            </a:r>
            <a:r>
              <a:rPr lang="zh-CN" altLang="en-US" sz="2000" dirty="0"/>
              <a:t>一个</a:t>
            </a:r>
            <a:r>
              <a:rPr lang="zh-CN" altLang="en-US" sz="2000" b="1" dirty="0"/>
              <a:t>个体</a:t>
            </a:r>
            <a:r>
              <a:rPr lang="zh-CN" altLang="en-US" sz="2000" dirty="0"/>
              <a:t>代表一个完整的生产计划，</a:t>
            </a:r>
            <a:r>
              <a:rPr lang="zh-CN" altLang="en-US" sz="2000" b="1" dirty="0"/>
              <a:t>种群</a:t>
            </a:r>
            <a:r>
              <a:rPr lang="zh-CN" altLang="en-US" sz="2000" dirty="0"/>
              <a:t>就代表多个不同的生产计划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2.</a:t>
            </a:r>
            <a:r>
              <a:rPr lang="zh-CN" altLang="en-US" sz="2000" dirty="0"/>
              <a:t>将这个方案所需的生产时间作为该个体的</a:t>
            </a:r>
            <a:r>
              <a:rPr lang="zh-CN" altLang="en-US" sz="2000" b="1" dirty="0"/>
              <a:t>适应度</a:t>
            </a:r>
            <a:r>
              <a:rPr lang="zh-CN" altLang="en-US" sz="2000" dirty="0"/>
              <a:t>（极小型指标）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	</a:t>
            </a:r>
            <a:r>
              <a:rPr lang="zh-CN" altLang="en-US" sz="2000" dirty="0"/>
              <a:t>适应度 </a:t>
            </a:r>
            <a:r>
              <a:rPr lang="en-US" altLang="zh-CN" sz="2000" dirty="0"/>
              <a:t>= </a:t>
            </a:r>
            <a:r>
              <a:rPr lang="zh-CN" altLang="en-US" sz="2000" dirty="0"/>
              <a:t>实际工作天数 </a:t>
            </a:r>
            <a:r>
              <a:rPr lang="en-US" altLang="zh-CN" sz="2000" dirty="0"/>
              <a:t>+ </a:t>
            </a:r>
            <a:r>
              <a:rPr lang="zh-CN" altLang="en-US" sz="2000" dirty="0"/>
              <a:t>约束违反惩罚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3.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选择：</a:t>
            </a:r>
            <a:r>
              <a:rPr lang="zh-CN" altLang="en-US" sz="2000" b="1" dirty="0"/>
              <a:t>锦标赛选择</a:t>
            </a:r>
            <a:r>
              <a:rPr lang="zh-CN" altLang="en-US" sz="2000" dirty="0"/>
              <a:t>，从这一代中选择</a:t>
            </a:r>
            <a:r>
              <a:rPr lang="en-US" altLang="zh-CN" sz="2000" dirty="0"/>
              <a:t>k</a:t>
            </a:r>
            <a:r>
              <a:rPr lang="zh-CN" altLang="en-US" sz="2000" dirty="0"/>
              <a:t>个适应度最高的方案进行遗传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交叉：将两个生产方案的一部分进行交换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变异：对某个生产计划的某一天生产的砖块数量做出改变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801872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687698E4-B620-A8DE-5FA4-AB909A1436EB}"/>
              </a:ext>
            </a:extLst>
          </p:cNvPr>
          <p:cNvSpPr txBox="1"/>
          <p:nvPr/>
        </p:nvSpPr>
        <p:spPr>
          <a:xfrm>
            <a:off x="410150" y="262306"/>
            <a:ext cx="494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定义数据类型（类型）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90AF6C8-2CF5-03DE-3AA7-2F14C7CD78E7}"/>
              </a:ext>
            </a:extLst>
          </p:cNvPr>
          <p:cNvCxnSpPr/>
          <p:nvPr/>
        </p:nvCxnSpPr>
        <p:spPr>
          <a:xfrm>
            <a:off x="269001" y="747680"/>
            <a:ext cx="117092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左大括号 1">
            <a:extLst>
              <a:ext uri="{FF2B5EF4-FFF2-40B4-BE49-F238E27FC236}">
                <a16:creationId xmlns:a16="http://schemas.microsoft.com/office/drawing/2014/main" id="{C39B1E35-8C7C-9626-28D2-57C2DA45A69C}"/>
              </a:ext>
            </a:extLst>
          </p:cNvPr>
          <p:cNvSpPr/>
          <p:nvPr/>
        </p:nvSpPr>
        <p:spPr>
          <a:xfrm>
            <a:off x="1816525" y="1307162"/>
            <a:ext cx="1116000" cy="3350754"/>
          </a:xfrm>
          <a:prstGeom prst="leftBrac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5E4AC3-AC13-F7ED-B783-CDF15BB40DE3}"/>
              </a:ext>
            </a:extLst>
          </p:cNvPr>
          <p:cNvSpPr txBox="1"/>
          <p:nvPr/>
        </p:nvSpPr>
        <p:spPr>
          <a:xfrm>
            <a:off x="632101" y="2720929"/>
            <a:ext cx="1362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brick</a:t>
            </a:r>
            <a:endParaRPr lang="zh-CN" altLang="en-US" sz="28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CB6E10-90DD-A134-A1C5-8CA0924A9535}"/>
              </a:ext>
            </a:extLst>
          </p:cNvPr>
          <p:cNvSpPr txBox="1"/>
          <p:nvPr/>
        </p:nvSpPr>
        <p:spPr>
          <a:xfrm>
            <a:off x="2895703" y="1503543"/>
            <a:ext cx="24424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zh-CN" sz="2400" dirty="0"/>
              <a:t>1.id:</a:t>
            </a:r>
            <a:r>
              <a:rPr lang="zh-CN" altLang="en-US" sz="2400" dirty="0"/>
              <a:t> 序号</a:t>
            </a:r>
            <a:endParaRPr lang="en-US" altLang="zh-CN" sz="2400" dirty="0"/>
          </a:p>
          <a:p>
            <a:pPr>
              <a:spcBef>
                <a:spcPts val="1800"/>
              </a:spcBef>
            </a:pPr>
            <a:r>
              <a:rPr lang="en-US" altLang="zh-CN" sz="2400" dirty="0"/>
              <a:t>2.type: </a:t>
            </a:r>
            <a:r>
              <a:rPr lang="zh-CN" altLang="en-US" sz="2400" dirty="0"/>
              <a:t>类型</a:t>
            </a:r>
            <a:endParaRPr lang="en-US" altLang="zh-CN" sz="2400" dirty="0"/>
          </a:p>
          <a:p>
            <a:pPr>
              <a:spcBef>
                <a:spcPts val="1800"/>
              </a:spcBef>
            </a:pPr>
            <a:r>
              <a:rPr lang="en-US" altLang="zh-CN" sz="2400" dirty="0"/>
              <a:t>3.count: </a:t>
            </a:r>
            <a:r>
              <a:rPr lang="zh-CN" altLang="en-US" sz="2400" dirty="0"/>
              <a:t>数量</a:t>
            </a:r>
            <a:endParaRPr lang="en-US" altLang="zh-CN" sz="2400" dirty="0"/>
          </a:p>
          <a:p>
            <a:pPr>
              <a:spcBef>
                <a:spcPts val="1800"/>
              </a:spcBef>
            </a:pPr>
            <a:r>
              <a:rPr lang="en-US" altLang="zh-CN" sz="2400" dirty="0"/>
              <a:t>4.weight: </a:t>
            </a:r>
            <a:r>
              <a:rPr lang="zh-CN" altLang="en-US" sz="2400" dirty="0"/>
              <a:t>重量</a:t>
            </a:r>
            <a:endParaRPr lang="en-US" altLang="zh-CN" sz="2400" dirty="0"/>
          </a:p>
          <a:p>
            <a:pPr>
              <a:spcBef>
                <a:spcPts val="1800"/>
              </a:spcBef>
            </a:pPr>
            <a:r>
              <a:rPr lang="en-US" altLang="zh-CN" sz="2400" dirty="0"/>
              <a:t>5.priority:</a:t>
            </a:r>
            <a:r>
              <a:rPr lang="zh-CN" altLang="en-US" sz="2400" dirty="0"/>
              <a:t>优先级</a:t>
            </a: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C4F2EAEA-09A4-1326-1B2B-CF5349E5BF31}"/>
              </a:ext>
            </a:extLst>
          </p:cNvPr>
          <p:cNvSpPr/>
          <p:nvPr/>
        </p:nvSpPr>
        <p:spPr>
          <a:xfrm>
            <a:off x="7068599" y="1705968"/>
            <a:ext cx="1182381" cy="2553141"/>
          </a:xfrm>
          <a:prstGeom prst="leftBrac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A3EB71-F5CF-0CA7-2243-4A1F028999D4}"/>
              </a:ext>
            </a:extLst>
          </p:cNvPr>
          <p:cNvSpPr txBox="1"/>
          <p:nvPr/>
        </p:nvSpPr>
        <p:spPr>
          <a:xfrm>
            <a:off x="5178530" y="2721114"/>
            <a:ext cx="2026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individual</a:t>
            </a:r>
            <a:endParaRPr lang="zh-CN" altLang="en-US" sz="28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390E38-5D77-FA4B-30CB-08B22E986ABD}"/>
              </a:ext>
            </a:extLst>
          </p:cNvPr>
          <p:cNvSpPr txBox="1"/>
          <p:nvPr/>
        </p:nvSpPr>
        <p:spPr>
          <a:xfrm>
            <a:off x="7871716" y="2029506"/>
            <a:ext cx="410651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</a:pPr>
            <a:r>
              <a:rPr lang="en-US" altLang="zh-CN" sz="2400" dirty="0"/>
              <a:t>1.schedule: </a:t>
            </a:r>
            <a:r>
              <a:rPr lang="zh-CN" altLang="en-US" sz="2400" dirty="0"/>
              <a:t>二维向量</a:t>
            </a:r>
            <a:endParaRPr lang="en-US" altLang="zh-CN" sz="2400" dirty="0"/>
          </a:p>
          <a:p>
            <a:pPr>
              <a:spcBef>
                <a:spcPts val="1800"/>
              </a:spcBef>
            </a:pPr>
            <a:r>
              <a:rPr lang="en-US" altLang="zh-CN" sz="2400" dirty="0"/>
              <a:t>2.fitness: </a:t>
            </a:r>
            <a:r>
              <a:rPr lang="zh-CN" altLang="en-US" sz="2400" dirty="0"/>
              <a:t>适应度</a:t>
            </a:r>
            <a:endParaRPr lang="en-US" altLang="zh-CN" sz="2400" dirty="0"/>
          </a:p>
          <a:p>
            <a:pPr>
              <a:spcBef>
                <a:spcPts val="1800"/>
              </a:spcBef>
            </a:pPr>
            <a:r>
              <a:rPr lang="en-US" altLang="zh-CN" sz="2400" dirty="0"/>
              <a:t>3.actual_days: </a:t>
            </a:r>
            <a:r>
              <a:rPr lang="zh-CN" altLang="en-US" sz="2400" dirty="0"/>
              <a:t>实际生产天数</a:t>
            </a:r>
          </a:p>
        </p:txBody>
      </p:sp>
    </p:spTree>
    <p:extLst>
      <p:ext uri="{BB962C8B-B14F-4D97-AF65-F5344CB8AC3E}">
        <p14:creationId xmlns:p14="http://schemas.microsoft.com/office/powerpoint/2010/main" val="480608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EE28ED1-EED9-BD7C-DEFE-20EFA4991010}"/>
              </a:ext>
            </a:extLst>
          </p:cNvPr>
          <p:cNvSpPr txBox="1"/>
          <p:nvPr/>
        </p:nvSpPr>
        <p:spPr>
          <a:xfrm>
            <a:off x="257750" y="109906"/>
            <a:ext cx="494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读入数据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9C328B-86B8-82CF-EBA7-60657AEE460B}"/>
              </a:ext>
            </a:extLst>
          </p:cNvPr>
          <p:cNvSpPr txBox="1"/>
          <p:nvPr/>
        </p:nvSpPr>
        <p:spPr>
          <a:xfrm>
            <a:off x="583007" y="1073960"/>
            <a:ext cx="5247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依次读取每行的数据</a:t>
            </a:r>
            <a:r>
              <a:rPr lang="zh-CN" altLang="en-US" dirty="0">
                <a:sym typeface="Wingdings" panose="05000000000000000000" pitchFamily="2" charset="2"/>
              </a:rPr>
              <a:t>：（</a:t>
            </a:r>
            <a:r>
              <a:rPr lang="en-US" altLang="zh-CN" dirty="0">
                <a:sym typeface="Wingdings" panose="05000000000000000000" pitchFamily="2" charset="2"/>
              </a:rPr>
              <a:t>45 × 4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endParaRPr lang="en-US" altLang="zh-CN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E39C105-6B2C-63B9-3B15-411E79964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163631"/>
              </p:ext>
            </p:extLst>
          </p:nvPr>
        </p:nvGraphicFramePr>
        <p:xfrm>
          <a:off x="1277161" y="1621792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41312616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3375748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196131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24279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序号（</a:t>
                      </a:r>
                      <a:r>
                        <a:rPr lang="en-US" altLang="zh-CN" dirty="0"/>
                        <a:t>id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砖型（</a:t>
                      </a:r>
                      <a:r>
                        <a:rPr lang="en-US" altLang="zh-CN" dirty="0"/>
                        <a:t>type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砖数（</a:t>
                      </a:r>
                      <a:r>
                        <a:rPr lang="en-US" altLang="zh-CN" dirty="0"/>
                        <a:t>count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重量（</a:t>
                      </a:r>
                      <a:r>
                        <a:rPr lang="en-US" altLang="zh-CN" dirty="0"/>
                        <a:t>weight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733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ZD00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662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33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ZD01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293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216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………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392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ZF06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310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812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ZF07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233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378907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02797F8-5BC3-9D4E-9823-67E3A98E97CE}"/>
              </a:ext>
            </a:extLst>
          </p:cNvPr>
          <p:cNvSpPr txBox="1"/>
          <p:nvPr/>
        </p:nvSpPr>
        <p:spPr>
          <a:xfrm>
            <a:off x="781435" y="4455399"/>
            <a:ext cx="9119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Priority: </a:t>
            </a:r>
            <a:r>
              <a:rPr lang="en-US" altLang="zh-CN" sz="2400" dirty="0"/>
              <a:t>ZD:0                   ZB</a:t>
            </a:r>
            <a:r>
              <a:rPr lang="zh-CN" altLang="en-US" sz="2400" dirty="0"/>
              <a:t>、</a:t>
            </a:r>
            <a:r>
              <a:rPr lang="en-US" altLang="zh-CN" sz="2400" dirty="0"/>
              <a:t>ZF:1</a:t>
            </a:r>
            <a:endParaRPr lang="zh-CN" altLang="en-US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0982C2D-4503-A84F-4A25-6992A63B9A93}"/>
              </a:ext>
            </a:extLst>
          </p:cNvPr>
          <p:cNvCxnSpPr/>
          <p:nvPr/>
        </p:nvCxnSpPr>
        <p:spPr>
          <a:xfrm>
            <a:off x="116601" y="595280"/>
            <a:ext cx="117092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04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F4E8C381-1826-4B80-6044-5551516862DC}"/>
              </a:ext>
            </a:extLst>
          </p:cNvPr>
          <p:cNvSpPr txBox="1"/>
          <p:nvPr/>
        </p:nvSpPr>
        <p:spPr>
          <a:xfrm>
            <a:off x="410150" y="262306"/>
            <a:ext cx="494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算法执行过程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0F9842B-326E-F529-1A63-EAE619790F6F}"/>
              </a:ext>
            </a:extLst>
          </p:cNvPr>
          <p:cNvCxnSpPr/>
          <p:nvPr/>
        </p:nvCxnSpPr>
        <p:spPr>
          <a:xfrm>
            <a:off x="269001" y="747680"/>
            <a:ext cx="117092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流程图: 可选过程 1">
            <a:extLst>
              <a:ext uri="{FF2B5EF4-FFF2-40B4-BE49-F238E27FC236}">
                <a16:creationId xmlns:a16="http://schemas.microsoft.com/office/drawing/2014/main" id="{CF4594F7-CDBC-A355-50A3-84A13395F04E}"/>
              </a:ext>
            </a:extLst>
          </p:cNvPr>
          <p:cNvSpPr/>
          <p:nvPr/>
        </p:nvSpPr>
        <p:spPr>
          <a:xfrm>
            <a:off x="877579" y="1546502"/>
            <a:ext cx="1693787" cy="791661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初始化种群</a:t>
            </a:r>
          </a:p>
        </p:txBody>
      </p:sp>
      <p:sp>
        <p:nvSpPr>
          <p:cNvPr id="3" name="流程图: 可选过程 2">
            <a:extLst>
              <a:ext uri="{FF2B5EF4-FFF2-40B4-BE49-F238E27FC236}">
                <a16:creationId xmlns:a16="http://schemas.microsoft.com/office/drawing/2014/main" id="{BE30FA69-B5C6-CAD0-3D54-6CA8577D735B}"/>
              </a:ext>
            </a:extLst>
          </p:cNvPr>
          <p:cNvSpPr/>
          <p:nvPr/>
        </p:nvSpPr>
        <p:spPr>
          <a:xfrm>
            <a:off x="877579" y="3700557"/>
            <a:ext cx="1649806" cy="791661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计算适应度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57219F7A-4AA8-71FE-3451-0E138EC661B3}"/>
              </a:ext>
            </a:extLst>
          </p:cNvPr>
          <p:cNvSpPr/>
          <p:nvPr/>
        </p:nvSpPr>
        <p:spPr>
          <a:xfrm rot="5400000">
            <a:off x="1043274" y="2954921"/>
            <a:ext cx="1362395" cy="128876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可选过程 7">
            <a:extLst>
              <a:ext uri="{FF2B5EF4-FFF2-40B4-BE49-F238E27FC236}">
                <a16:creationId xmlns:a16="http://schemas.microsoft.com/office/drawing/2014/main" id="{36BA0F62-7233-536C-F1D6-70333A9F527B}"/>
              </a:ext>
            </a:extLst>
          </p:cNvPr>
          <p:cNvSpPr/>
          <p:nvPr/>
        </p:nvSpPr>
        <p:spPr>
          <a:xfrm>
            <a:off x="3546944" y="3758859"/>
            <a:ext cx="1649806" cy="791661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选择父母池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53A5177D-7B3E-FC12-B473-721B5B441957}"/>
              </a:ext>
            </a:extLst>
          </p:cNvPr>
          <p:cNvSpPr/>
          <p:nvPr/>
        </p:nvSpPr>
        <p:spPr>
          <a:xfrm>
            <a:off x="2523575" y="4031950"/>
            <a:ext cx="1011287" cy="1227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>
            <a:extLst>
              <a:ext uri="{FF2B5EF4-FFF2-40B4-BE49-F238E27FC236}">
                <a16:creationId xmlns:a16="http://schemas.microsoft.com/office/drawing/2014/main" id="{39F7BFEC-1397-DE2E-7BCD-5240E89C249B}"/>
              </a:ext>
            </a:extLst>
          </p:cNvPr>
          <p:cNvSpPr/>
          <p:nvPr/>
        </p:nvSpPr>
        <p:spPr>
          <a:xfrm>
            <a:off x="6123616" y="5714489"/>
            <a:ext cx="1649806" cy="791661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交叉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5226868F-58EA-AAFE-57DD-AEEDE9B61D34}"/>
              </a:ext>
            </a:extLst>
          </p:cNvPr>
          <p:cNvSpPr/>
          <p:nvPr/>
        </p:nvSpPr>
        <p:spPr>
          <a:xfrm rot="3720474">
            <a:off x="4604546" y="5040877"/>
            <a:ext cx="2151039" cy="2393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可选过程 11">
            <a:extLst>
              <a:ext uri="{FF2B5EF4-FFF2-40B4-BE49-F238E27FC236}">
                <a16:creationId xmlns:a16="http://schemas.microsoft.com/office/drawing/2014/main" id="{98037242-5988-8ABC-79AE-581F0FB05B6F}"/>
              </a:ext>
            </a:extLst>
          </p:cNvPr>
          <p:cNvSpPr/>
          <p:nvPr/>
        </p:nvSpPr>
        <p:spPr>
          <a:xfrm>
            <a:off x="6163379" y="4270479"/>
            <a:ext cx="1649806" cy="791661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变异</a:t>
            </a:r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48F23530-A9AA-7A58-71EF-23443B17EBA8}"/>
              </a:ext>
            </a:extLst>
          </p:cNvPr>
          <p:cNvSpPr/>
          <p:nvPr/>
        </p:nvSpPr>
        <p:spPr>
          <a:xfrm>
            <a:off x="6883314" y="5039535"/>
            <a:ext cx="130410" cy="69756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流程图: 决策 15">
            <a:extLst>
              <a:ext uri="{FF2B5EF4-FFF2-40B4-BE49-F238E27FC236}">
                <a16:creationId xmlns:a16="http://schemas.microsoft.com/office/drawing/2014/main" id="{D947529D-CCDD-A9F5-FDB9-1AA376951F4B}"/>
              </a:ext>
            </a:extLst>
          </p:cNvPr>
          <p:cNvSpPr/>
          <p:nvPr/>
        </p:nvSpPr>
        <p:spPr>
          <a:xfrm>
            <a:off x="5569979" y="2498901"/>
            <a:ext cx="2706961" cy="1040916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是否达到最大迭代次数</a:t>
            </a:r>
          </a:p>
        </p:txBody>
      </p:sp>
      <p:sp>
        <p:nvSpPr>
          <p:cNvPr id="17" name="箭头: 上 16">
            <a:extLst>
              <a:ext uri="{FF2B5EF4-FFF2-40B4-BE49-F238E27FC236}">
                <a16:creationId xmlns:a16="http://schemas.microsoft.com/office/drawing/2014/main" id="{099D2F28-1DDD-E881-BA44-329555D402EF}"/>
              </a:ext>
            </a:extLst>
          </p:cNvPr>
          <p:cNvSpPr/>
          <p:nvPr/>
        </p:nvSpPr>
        <p:spPr>
          <a:xfrm>
            <a:off x="6858639" y="3591127"/>
            <a:ext cx="129643" cy="72769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 17">
            <a:extLst>
              <a:ext uri="{FF2B5EF4-FFF2-40B4-BE49-F238E27FC236}">
                <a16:creationId xmlns:a16="http://schemas.microsoft.com/office/drawing/2014/main" id="{E1C06905-3EB0-7820-14F4-D5A38EFCC247}"/>
              </a:ext>
            </a:extLst>
          </p:cNvPr>
          <p:cNvSpPr/>
          <p:nvPr/>
        </p:nvSpPr>
        <p:spPr>
          <a:xfrm>
            <a:off x="1764171" y="2889547"/>
            <a:ext cx="3781069" cy="25657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7DE7914-28F0-FF7B-E8DC-124BA73C08E4}"/>
              </a:ext>
            </a:extLst>
          </p:cNvPr>
          <p:cNvSpPr txBox="1"/>
          <p:nvPr/>
        </p:nvSpPr>
        <p:spPr>
          <a:xfrm>
            <a:off x="3255997" y="2571366"/>
            <a:ext cx="423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否</a:t>
            </a:r>
          </a:p>
        </p:txBody>
      </p:sp>
      <p:sp>
        <p:nvSpPr>
          <p:cNvPr id="20" name="箭头: 圆角右 19">
            <a:extLst>
              <a:ext uri="{FF2B5EF4-FFF2-40B4-BE49-F238E27FC236}">
                <a16:creationId xmlns:a16="http://schemas.microsoft.com/office/drawing/2014/main" id="{3403C0E0-F55F-97B9-DB3B-309346FFFFFE}"/>
              </a:ext>
            </a:extLst>
          </p:cNvPr>
          <p:cNvSpPr/>
          <p:nvPr/>
        </p:nvSpPr>
        <p:spPr>
          <a:xfrm>
            <a:off x="6858639" y="1307167"/>
            <a:ext cx="1214087" cy="1172731"/>
          </a:xfrm>
          <a:prstGeom prst="bentArrow">
            <a:avLst>
              <a:gd name="adj1" fmla="val 10117"/>
              <a:gd name="adj2" fmla="val 13230"/>
              <a:gd name="adj3" fmla="val 25515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D98AD94-09F3-4DB9-9498-15025F7444B8}"/>
              </a:ext>
            </a:extLst>
          </p:cNvPr>
          <p:cNvSpPr txBox="1"/>
          <p:nvPr/>
        </p:nvSpPr>
        <p:spPr>
          <a:xfrm>
            <a:off x="6290541" y="1779705"/>
            <a:ext cx="50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是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A378A95-79D4-56A4-A4D4-2CB4C6557A7C}"/>
              </a:ext>
            </a:extLst>
          </p:cNvPr>
          <p:cNvSpPr txBox="1"/>
          <p:nvPr/>
        </p:nvSpPr>
        <p:spPr>
          <a:xfrm>
            <a:off x="8276940" y="1251930"/>
            <a:ext cx="3291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输出适应度最高的个体</a:t>
            </a:r>
          </a:p>
        </p:txBody>
      </p:sp>
    </p:spTree>
    <p:extLst>
      <p:ext uri="{BB962C8B-B14F-4D97-AF65-F5344CB8AC3E}">
        <p14:creationId xmlns:p14="http://schemas.microsoft.com/office/powerpoint/2010/main" val="1750148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541DFA35-1CC4-86C7-139A-23042202245D}"/>
              </a:ext>
            </a:extLst>
          </p:cNvPr>
          <p:cNvSpPr txBox="1"/>
          <p:nvPr/>
        </p:nvSpPr>
        <p:spPr>
          <a:xfrm>
            <a:off x="410150" y="262306"/>
            <a:ext cx="494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输出计划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605973F-93BC-ADA0-A063-53225E62D054}"/>
              </a:ext>
            </a:extLst>
          </p:cNvPr>
          <p:cNvCxnSpPr/>
          <p:nvPr/>
        </p:nvCxnSpPr>
        <p:spPr>
          <a:xfrm>
            <a:off x="269001" y="747680"/>
            <a:ext cx="117092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772BE53-4698-8440-5F79-A666E3AD8DE3}"/>
              </a:ext>
            </a:extLst>
          </p:cNvPr>
          <p:cNvSpPr txBox="1"/>
          <p:nvPr/>
        </p:nvSpPr>
        <p:spPr>
          <a:xfrm>
            <a:off x="490953" y="1528781"/>
            <a:ext cx="9831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将生产计划输出为</a:t>
            </a:r>
            <a:r>
              <a:rPr lang="en-US" altLang="zh-CN" dirty="0"/>
              <a:t>csv</a:t>
            </a:r>
            <a:r>
              <a:rPr lang="zh-CN" altLang="en-US" dirty="0"/>
              <a:t>格式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94365C6-5DE0-1FA7-963D-1804C96FC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282810"/>
              </p:ext>
            </p:extLst>
          </p:nvPr>
        </p:nvGraphicFramePr>
        <p:xfrm>
          <a:off x="1326936" y="2242470"/>
          <a:ext cx="815936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624">
                  <a:extLst>
                    <a:ext uri="{9D8B030D-6E8A-4147-A177-3AD203B41FA5}">
                      <a16:colId xmlns:a16="http://schemas.microsoft.com/office/drawing/2014/main" val="1147498420"/>
                    </a:ext>
                  </a:extLst>
                </a:gridCol>
                <a:gridCol w="1165624">
                  <a:extLst>
                    <a:ext uri="{9D8B030D-6E8A-4147-A177-3AD203B41FA5}">
                      <a16:colId xmlns:a16="http://schemas.microsoft.com/office/drawing/2014/main" val="2368643279"/>
                    </a:ext>
                  </a:extLst>
                </a:gridCol>
                <a:gridCol w="1165624">
                  <a:extLst>
                    <a:ext uri="{9D8B030D-6E8A-4147-A177-3AD203B41FA5}">
                      <a16:colId xmlns:a16="http://schemas.microsoft.com/office/drawing/2014/main" val="2016666725"/>
                    </a:ext>
                  </a:extLst>
                </a:gridCol>
                <a:gridCol w="1165624">
                  <a:extLst>
                    <a:ext uri="{9D8B030D-6E8A-4147-A177-3AD203B41FA5}">
                      <a16:colId xmlns:a16="http://schemas.microsoft.com/office/drawing/2014/main" val="490175483"/>
                    </a:ext>
                  </a:extLst>
                </a:gridCol>
                <a:gridCol w="1165624">
                  <a:extLst>
                    <a:ext uri="{9D8B030D-6E8A-4147-A177-3AD203B41FA5}">
                      <a16:colId xmlns:a16="http://schemas.microsoft.com/office/drawing/2014/main" val="1547362022"/>
                    </a:ext>
                  </a:extLst>
                </a:gridCol>
                <a:gridCol w="1165624">
                  <a:extLst>
                    <a:ext uri="{9D8B030D-6E8A-4147-A177-3AD203B41FA5}">
                      <a16:colId xmlns:a16="http://schemas.microsoft.com/office/drawing/2014/main" val="2225249787"/>
                    </a:ext>
                  </a:extLst>
                </a:gridCol>
                <a:gridCol w="1165624">
                  <a:extLst>
                    <a:ext uri="{9D8B030D-6E8A-4147-A177-3AD203B41FA5}">
                      <a16:colId xmlns:a16="http://schemas.microsoft.com/office/drawing/2014/main" val="1922413035"/>
                    </a:ext>
                  </a:extLst>
                </a:gridCol>
              </a:tblGrid>
              <a:tr h="237019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type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count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weight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7.9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781546"/>
                  </a:ext>
                </a:extLst>
              </a:tr>
              <a:tr h="23701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074909"/>
                  </a:ext>
                </a:extLst>
              </a:tr>
              <a:tr h="237019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880328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68CE8DE4-771C-E616-1352-3F21534CF3F5}"/>
              </a:ext>
            </a:extLst>
          </p:cNvPr>
          <p:cNvSpPr txBox="1"/>
          <p:nvPr/>
        </p:nvSpPr>
        <p:spPr>
          <a:xfrm>
            <a:off x="410150" y="4028464"/>
            <a:ext cx="965950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特殊点：</a:t>
            </a:r>
            <a:br>
              <a:rPr lang="en-US" altLang="zh-CN" dirty="0"/>
            </a:br>
            <a:r>
              <a:rPr lang="en-US" altLang="zh-CN" dirty="0"/>
              <a:t>1.</a:t>
            </a:r>
            <a:r>
              <a:rPr lang="zh-CN" altLang="en-US" dirty="0"/>
              <a:t>前</a:t>
            </a:r>
            <a:r>
              <a:rPr lang="en-US" altLang="zh-CN" dirty="0"/>
              <a:t>7</a:t>
            </a:r>
            <a:r>
              <a:rPr lang="zh-CN" altLang="en-US" dirty="0"/>
              <a:t>天不进行生产，从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8</a:t>
            </a:r>
            <a:r>
              <a:rPr lang="zh-CN" altLang="en-US" dirty="0"/>
              <a:t>日开始生产，从第</a:t>
            </a:r>
            <a:r>
              <a:rPr lang="en-US" altLang="zh-CN" dirty="0"/>
              <a:t>8</a:t>
            </a:r>
            <a:r>
              <a:rPr lang="zh-CN" altLang="en-US" dirty="0"/>
              <a:t>列开始填表；</a:t>
            </a:r>
            <a:endParaRPr lang="en-US" altLang="zh-CN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2.</a:t>
            </a:r>
            <a:r>
              <a:rPr lang="zh-CN" altLang="en-US" dirty="0"/>
              <a:t>每周日休息一天，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8</a:t>
            </a:r>
            <a:r>
              <a:rPr lang="zh-CN" altLang="en-US" dirty="0"/>
              <a:t>日为周二；</a:t>
            </a:r>
            <a:endParaRPr lang="en-US" altLang="zh-CN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3.</a:t>
            </a:r>
            <a:r>
              <a:rPr lang="zh-CN" altLang="en-US" dirty="0"/>
              <a:t>原表中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22</a:t>
            </a:r>
            <a:r>
              <a:rPr lang="zh-CN" altLang="en-US" dirty="0"/>
              <a:t>日（不是周日）未进行生产，在我的计划中仍进行生产。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45736A-D44B-6F9B-6D76-01F5053F3622}"/>
              </a:ext>
            </a:extLst>
          </p:cNvPr>
          <p:cNvSpPr txBox="1"/>
          <p:nvPr/>
        </p:nvSpPr>
        <p:spPr>
          <a:xfrm>
            <a:off x="594257" y="975995"/>
            <a:ext cx="3338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解码</a:t>
            </a:r>
            <a:r>
              <a:rPr lang="en-US" altLang="zh-CN" sz="2800" b="1" dirty="0"/>
              <a:t>Decoding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542609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425</Words>
  <Application>Microsoft Office PowerPoint</Application>
  <PresentationFormat>宽屏</PresentationFormat>
  <Paragraphs>87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Wingdings</vt:lpstr>
      <vt:lpstr>Office 主题​​</vt:lpstr>
      <vt:lpstr>PowerPoint 演示文稿</vt:lpstr>
      <vt:lpstr>问题类型的分类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出门远行 十七</dc:creator>
  <cp:lastModifiedBy>出门远行 十七</cp:lastModifiedBy>
  <cp:revision>2</cp:revision>
  <dcterms:created xsi:type="dcterms:W3CDTF">2025-11-05T10:47:30Z</dcterms:created>
  <dcterms:modified xsi:type="dcterms:W3CDTF">2025-11-05T16:05:52Z</dcterms:modified>
</cp:coreProperties>
</file>